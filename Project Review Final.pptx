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7" r:id="rId4"/>
    <p:sldId id="260" r:id="rId5"/>
    <p:sldId id="257" r:id="rId6"/>
    <p:sldId id="268" r:id="rId7"/>
    <p:sldId id="269" r:id="rId8"/>
    <p:sldId id="270" r:id="rId9"/>
    <p:sldId id="262" r:id="rId10"/>
    <p:sldId id="263" r:id="rId11"/>
    <p:sldId id="265" r:id="rId12"/>
    <p:sldId id="271" r:id="rId13"/>
    <p:sldId id="272" r:id="rId14"/>
    <p:sldId id="274" r:id="rId15"/>
    <p:sldId id="273" r:id="rId16"/>
    <p:sldId id="275"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95" d="100"/>
          <a:sy n="95" d="100"/>
        </p:scale>
        <p:origin x="163" y="91"/>
      </p:cViewPr>
      <p:guideLst>
        <p:guide orient="horz" pos="2122"/>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2799080" y="743585"/>
            <a:ext cx="7136130" cy="1014730"/>
          </a:xfrm>
          <a:prstGeom prst="rect">
            <a:avLst/>
          </a:prstGeom>
          <a:noFill/>
        </p:spPr>
        <p:txBody>
          <a:bodyPr wrap="square" rtlCol="0" anchor="t">
            <a:spAutoFit/>
          </a:bodyPr>
          <a:lstStyle/>
          <a:p>
            <a:pPr algn="ctr"/>
            <a:r>
              <a:rPr lang="en-US" altLang="en-US" sz="2400" b="1" dirty="0">
                <a:latin typeface="Times New Roman" panose="02020603050405020304" pitchFamily="18" charset="0"/>
                <a:cs typeface="Times New Roman" panose="02020603050405020304" pitchFamily="18" charset="0"/>
                <a:sym typeface="+mn-ea"/>
              </a:rPr>
              <a:t>R.V.R. &amp; J.C. COLLEGE OF ENGINEERING</a:t>
            </a:r>
            <a:endParaRPr lang="en-US" altLang="en-US" sz="2400" b="1" dirty="0">
              <a:latin typeface="Times New Roman" panose="02020603050405020304" pitchFamily="18" charset="0"/>
              <a:cs typeface="Times New Roman" panose="02020603050405020304" pitchFamily="18" charset="0"/>
            </a:endParaRPr>
          </a:p>
          <a:p>
            <a:pPr algn="ctr"/>
            <a:r>
              <a:rPr lang="en-US" altLang="en-US" sz="2000" dirty="0">
                <a:latin typeface="Times New Roman" panose="02020603050405020304" pitchFamily="18" charset="0"/>
                <a:cs typeface="Times New Roman" panose="02020603050405020304" pitchFamily="18" charset="0"/>
                <a:sym typeface="+mn-ea"/>
              </a:rPr>
              <a:t>Department of Computer Science and Engineering(Data Science)</a:t>
            </a:r>
            <a:endParaRPr lang="en-US" altLang="en-US" sz="1600" dirty="0">
              <a:latin typeface="Times New Roman" panose="02020603050405020304" pitchFamily="18" charset="0"/>
              <a:cs typeface="Times New Roman" panose="02020603050405020304" pitchFamily="18" charset="0"/>
            </a:endParaRPr>
          </a:p>
          <a:p>
            <a:endParaRPr lang="en-US" altLang="en-US" sz="1600" dirty="0">
              <a:latin typeface="Times New Roman" panose="02020603050405020304" pitchFamily="18" charset="0"/>
              <a:cs typeface="Times New Roman" panose="02020603050405020304" pitchFamily="18" charset="0"/>
            </a:endParaRPr>
          </a:p>
        </p:txBody>
      </p:sp>
      <p:pic>
        <p:nvPicPr>
          <p:cNvPr id="7" name="Picture 6" descr="A logo of a college of engineer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27716" y="308090"/>
            <a:ext cx="1371364" cy="1581334"/>
          </a:xfrm>
          <a:prstGeom prst="rect">
            <a:avLst/>
          </a:prstGeom>
        </p:spPr>
      </p:pic>
      <p:sp>
        <p:nvSpPr>
          <p:cNvPr id="6" name="Text Box 5"/>
          <p:cNvSpPr txBox="1"/>
          <p:nvPr/>
        </p:nvSpPr>
        <p:spPr>
          <a:xfrm>
            <a:off x="1774190" y="2829560"/>
            <a:ext cx="8937625" cy="1198880"/>
          </a:xfrm>
          <a:prstGeom prst="rect">
            <a:avLst/>
          </a:prstGeom>
          <a:noFill/>
        </p:spPr>
        <p:txBody>
          <a:bodyPr wrap="square" rtlCol="0" anchor="t">
            <a:spAutoFit/>
          </a:bodyPr>
          <a:lstStyle/>
          <a:p>
            <a:r>
              <a:rPr lang="en-US" altLang="en-US" sz="3600" b="1" dirty="0">
                <a:latin typeface="Times New Roman" panose="02020603050405020304" pitchFamily="18" charset="0"/>
                <a:cs typeface="Times New Roman" panose="02020603050405020304" pitchFamily="18" charset="0"/>
                <a:sym typeface="+mn-ea"/>
              </a:rPr>
              <a:t>Enhancing Employee Attrition Prediction Using Hybrid Machine Learning Models</a:t>
            </a:r>
            <a:endParaRPr lang="en-US" altLang="en-US" sz="3600" b="1" dirty="0">
              <a:latin typeface="Times New Roman" panose="02020603050405020304" pitchFamily="18" charset="0"/>
              <a:cs typeface="Times New Roman" panose="02020603050405020304" pitchFamily="18" charset="0"/>
              <a:sym typeface="+mn-ea"/>
            </a:endParaRPr>
          </a:p>
        </p:txBody>
      </p:sp>
      <p:sp>
        <p:nvSpPr>
          <p:cNvPr id="8" name="Text Box 7"/>
          <p:cNvSpPr txBox="1"/>
          <p:nvPr/>
        </p:nvSpPr>
        <p:spPr>
          <a:xfrm>
            <a:off x="1774190" y="4540885"/>
            <a:ext cx="3956050" cy="1337945"/>
          </a:xfrm>
          <a:prstGeom prst="rect">
            <a:avLst/>
          </a:prstGeom>
          <a:noFill/>
        </p:spPr>
        <p:txBody>
          <a:bodyPr wrap="square" rtlCol="0" anchor="t">
            <a:spAutoFit/>
          </a:bodyPr>
          <a:lstStyle/>
          <a:p>
            <a:pPr algn="l">
              <a:lnSpc>
                <a:spcPct val="150000"/>
              </a:lnSpc>
            </a:pPr>
            <a:r>
              <a:rPr lang="en-IN" dirty="0">
                <a:latin typeface="Times New Roman" panose="02020603050405020304" pitchFamily="18" charset="0"/>
                <a:cs typeface="Times New Roman" panose="02020603050405020304" pitchFamily="18" charset="0"/>
                <a:sym typeface="+mn-ea"/>
              </a:rPr>
              <a:t>Batch No </a:t>
            </a:r>
            <a:r>
              <a:rPr lang="en-US" altLang="en-IN" dirty="0">
                <a:latin typeface="Times New Roman" panose="02020603050405020304" pitchFamily="18" charset="0"/>
                <a:cs typeface="Times New Roman" panose="02020603050405020304" pitchFamily="18" charset="0"/>
                <a:sym typeface="+mn-ea"/>
              </a:rPr>
              <a:t>-</a:t>
            </a:r>
            <a:r>
              <a:rPr lang="en-IN" dirty="0">
                <a:latin typeface="Times New Roman" panose="02020603050405020304" pitchFamily="18" charset="0"/>
                <a:cs typeface="Times New Roman" panose="02020603050405020304" pitchFamily="18" charset="0"/>
                <a:sym typeface="+mn-ea"/>
              </a:rPr>
              <a:t> </a:t>
            </a:r>
            <a:r>
              <a:rPr lang="en-US" altLang="en-IN" b="1" dirty="0">
                <a:latin typeface="Times New Roman" panose="02020603050405020304" pitchFamily="18" charset="0"/>
                <a:cs typeface="Times New Roman" panose="02020603050405020304" pitchFamily="18" charset="0"/>
                <a:sym typeface="+mn-ea"/>
              </a:rPr>
              <a:t>20</a:t>
            </a:r>
            <a:endParaRPr lang="en-US" altLang="en-IN" dirty="0">
              <a:latin typeface="Times New Roman" panose="02020603050405020304" pitchFamily="18" charset="0"/>
              <a:cs typeface="Times New Roman" panose="02020603050405020304" pitchFamily="18" charset="0"/>
              <a:sym typeface="+mn-ea"/>
            </a:endParaRPr>
          </a:p>
          <a:p>
            <a:pPr algn="l"/>
            <a:r>
              <a:rPr lang="en-US" dirty="0">
                <a:latin typeface="Times New Roman" panose="02020603050405020304" pitchFamily="18" charset="0"/>
                <a:cs typeface="Times New Roman" panose="02020603050405020304" pitchFamily="18" charset="0"/>
                <a:sym typeface="+mn-ea"/>
              </a:rPr>
              <a:t>K. Karthik - Y22CD071</a:t>
            </a:r>
            <a:br>
              <a:rPr lang="en-US" dirty="0">
                <a:latin typeface="Times New Roman" panose="02020603050405020304" pitchFamily="18" charset="0"/>
                <a:cs typeface="Times New Roman" panose="02020603050405020304" pitchFamily="18" charset="0"/>
                <a:sym typeface="+mn-ea"/>
              </a:rPr>
            </a:br>
            <a:r>
              <a:rPr lang="en-US" dirty="0">
                <a:latin typeface="Times New Roman" panose="02020603050405020304" pitchFamily="18" charset="0"/>
                <a:cs typeface="Times New Roman" panose="02020603050405020304" pitchFamily="18" charset="0"/>
                <a:sym typeface="+mn-ea"/>
              </a:rPr>
              <a:t>N. </a:t>
            </a:r>
            <a:r>
              <a:rPr lang="en-US" altLang="en-US" dirty="0">
                <a:latin typeface="Times New Roman" panose="02020603050405020304" pitchFamily="18" charset="0"/>
                <a:cs typeface="Times New Roman" panose="02020603050405020304" pitchFamily="18" charset="0"/>
                <a:sym typeface="+mn-ea"/>
              </a:rPr>
              <a:t>Sai </a:t>
            </a:r>
            <a:r>
              <a:rPr lang="en-US" altLang="en-US" dirty="0" err="1">
                <a:latin typeface="Times New Roman" panose="02020603050405020304" pitchFamily="18" charset="0"/>
                <a:cs typeface="Times New Roman" panose="02020603050405020304" pitchFamily="18" charset="0"/>
                <a:sym typeface="+mn-ea"/>
              </a:rPr>
              <a:t>sumanth</a:t>
            </a:r>
            <a:r>
              <a:rPr lang="en-US" altLang="en-US" dirty="0">
                <a:latin typeface="Times New Roman" panose="02020603050405020304" pitchFamily="18" charset="0"/>
                <a:cs typeface="Times New Roman" panose="02020603050405020304" pitchFamily="18" charset="0"/>
                <a:sym typeface="+mn-ea"/>
              </a:rPr>
              <a:t> babu -Y22CD113</a:t>
            </a:r>
            <a:br>
              <a:rPr lang="en-US" altLang="en-US" dirty="0">
                <a:latin typeface="Times New Roman" panose="02020603050405020304" pitchFamily="18" charset="0"/>
                <a:cs typeface="Times New Roman" panose="02020603050405020304" pitchFamily="18" charset="0"/>
                <a:sym typeface="+mn-ea"/>
              </a:rPr>
            </a:br>
            <a:r>
              <a:rPr lang="en-US" altLang="en-US" dirty="0">
                <a:latin typeface="Times New Roman" panose="02020603050405020304" pitchFamily="18" charset="0"/>
                <a:cs typeface="Times New Roman" panose="02020603050405020304" pitchFamily="18" charset="0"/>
                <a:sym typeface="+mn-ea"/>
              </a:rPr>
              <a:t>P. Jacob Abraham Jane -Y22CD122</a:t>
            </a:r>
            <a:endParaRPr lang="en-US" altLang="en-US" dirty="0">
              <a:latin typeface="Times New Roman" panose="02020603050405020304" pitchFamily="18" charset="0"/>
              <a:cs typeface="Times New Roman" panose="02020603050405020304" pitchFamily="18" charset="0"/>
              <a:sym typeface="+mn-ea"/>
            </a:endParaRPr>
          </a:p>
        </p:txBody>
      </p:sp>
      <p:sp>
        <p:nvSpPr>
          <p:cNvPr id="9" name="Text Box 8"/>
          <p:cNvSpPr txBox="1"/>
          <p:nvPr/>
        </p:nvSpPr>
        <p:spPr>
          <a:xfrm>
            <a:off x="7165340" y="4748530"/>
            <a:ext cx="3546475" cy="1198880"/>
          </a:xfrm>
          <a:prstGeom prst="rect">
            <a:avLst/>
          </a:prstGeom>
          <a:noFill/>
        </p:spPr>
        <p:txBody>
          <a:bodyPr wrap="square" rtlCol="0" anchor="t">
            <a:spAutoFit/>
          </a:bodyPr>
          <a:lstStyle/>
          <a:p>
            <a:pPr algn="ctr"/>
            <a:r>
              <a:rPr lang="en-IN" dirty="0">
                <a:latin typeface="Times New Roman" panose="02020603050405020304" pitchFamily="18" charset="0"/>
                <a:cs typeface="Times New Roman" panose="02020603050405020304" pitchFamily="18" charset="0"/>
                <a:sym typeface="+mn-ea"/>
              </a:rPr>
              <a:t>Under the Guidance of </a:t>
            </a:r>
            <a:endParaRPr lang="en-IN" sz="1800"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sym typeface="+mn-ea"/>
              </a:rPr>
              <a:t>Mr. R.Ch.S.N.P.Sairam</a:t>
            </a:r>
            <a:endParaRPr lang="en-US" altLang="en-IN" sz="1800" b="1" dirty="0">
              <a:latin typeface="Times New Roman" panose="02020603050405020304" pitchFamily="18" charset="0"/>
              <a:cs typeface="Times New Roman" panose="02020603050405020304" pitchFamily="18" charset="0"/>
            </a:endParaRPr>
          </a:p>
          <a:p>
            <a:pPr algn="ctr"/>
            <a:r>
              <a:rPr lang="en-US" altLang="en-US" dirty="0">
                <a:latin typeface="Times New Roman" panose="02020603050405020304" pitchFamily="18" charset="0"/>
                <a:cs typeface="Times New Roman" panose="02020603050405020304" pitchFamily="18" charset="0"/>
                <a:sym typeface="+mn-ea"/>
              </a:rPr>
              <a:t>Assistant Professor</a:t>
            </a:r>
            <a:br>
              <a:rPr lang="en-US" altLang="en-US" dirty="0">
                <a:latin typeface="Times New Roman" panose="02020603050405020304" pitchFamily="18" charset="0"/>
                <a:cs typeface="Times New Roman" panose="02020603050405020304" pitchFamily="18" charset="0"/>
                <a:sym typeface="+mn-ea"/>
              </a:rPr>
            </a:br>
            <a:r>
              <a:rPr lang="en-US" altLang="en-US" sz="1800" dirty="0">
                <a:latin typeface="Times New Roman" panose="02020603050405020304" pitchFamily="18" charset="0"/>
                <a:cs typeface="Times New Roman" panose="02020603050405020304" pitchFamily="18" charset="0"/>
              </a:rPr>
              <a:t>Dept of CSE(DS)</a:t>
            </a: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sz="3600" b="1" dirty="0">
                <a:latin typeface="Times New Roman" panose="02020603050405020304" pitchFamily="18" charset="0"/>
                <a:cs typeface="Times New Roman" panose="02020603050405020304" pitchFamily="18" charset="0"/>
                <a:sym typeface="+mn-ea"/>
              </a:rPr>
              <a:t>Table of Contents</a:t>
            </a:r>
            <a:endParaRPr lang="en-US" sz="36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0000" lnSpcReduction="20000"/>
          </a:bodyPr>
          <a:p>
            <a:pPr algn="l" fontAlgn="base"/>
            <a:r>
              <a:rPr lang="en-IN" sz="2665" dirty="0">
                <a:latin typeface="Times New Roman" panose="02020603050405020304" pitchFamily="18" charset="0"/>
                <a:cs typeface="Times New Roman" panose="02020603050405020304" pitchFamily="18" charset="0"/>
                <a:sym typeface="+mn-ea"/>
              </a:rPr>
              <a:t>Abstract</a:t>
            </a:r>
            <a:endParaRPr lang="en-IN" sz="2665" dirty="0">
              <a:latin typeface="Times New Roman" panose="02020603050405020304" pitchFamily="18" charset="0"/>
              <a:cs typeface="Times New Roman" panose="02020603050405020304" pitchFamily="18" charset="0"/>
            </a:endParaRPr>
          </a:p>
          <a:p>
            <a:pPr algn="l" fontAlgn="base"/>
            <a:r>
              <a:rPr lang="en-IN" sz="2665" dirty="0">
                <a:latin typeface="Times New Roman" panose="02020603050405020304" pitchFamily="18" charset="0"/>
                <a:cs typeface="Times New Roman" panose="02020603050405020304" pitchFamily="18" charset="0"/>
                <a:sym typeface="+mn-ea"/>
              </a:rPr>
              <a:t>Problem Statement</a:t>
            </a:r>
            <a:endParaRPr lang="en-IN" sz="2665" dirty="0">
              <a:latin typeface="Times New Roman" panose="02020603050405020304" pitchFamily="18" charset="0"/>
              <a:cs typeface="Times New Roman" panose="02020603050405020304" pitchFamily="18" charset="0"/>
            </a:endParaRPr>
          </a:p>
          <a:p>
            <a:pPr algn="l" fontAlgn="base"/>
            <a:r>
              <a:rPr lang="en-US" altLang="en-IN" sz="2665" dirty="0">
                <a:latin typeface="Times New Roman" panose="02020603050405020304" pitchFamily="18" charset="0"/>
                <a:cs typeface="Times New Roman" panose="02020603050405020304" pitchFamily="18" charset="0"/>
                <a:sym typeface="+mn-ea"/>
              </a:rPr>
              <a:t>Objectives</a:t>
            </a:r>
            <a:endParaRPr lang="en-IN" sz="2665" dirty="0">
              <a:latin typeface="Times New Roman" panose="02020603050405020304" pitchFamily="18" charset="0"/>
              <a:cs typeface="Times New Roman" panose="02020603050405020304" pitchFamily="18" charset="0"/>
              <a:sym typeface="+mn-ea"/>
            </a:endParaRPr>
          </a:p>
          <a:p>
            <a:pPr algn="l" fontAlgn="base"/>
            <a:r>
              <a:rPr lang="en-IN" sz="2665" dirty="0">
                <a:latin typeface="Times New Roman" panose="02020603050405020304" pitchFamily="18" charset="0"/>
                <a:cs typeface="Times New Roman" panose="02020603050405020304" pitchFamily="18" charset="0"/>
                <a:sym typeface="+mn-ea"/>
              </a:rPr>
              <a:t>Literature Survey</a:t>
            </a:r>
            <a:endParaRPr lang="en-IN" sz="2665" dirty="0">
              <a:latin typeface="Times New Roman" panose="02020603050405020304" pitchFamily="18" charset="0"/>
              <a:cs typeface="Times New Roman" panose="02020603050405020304" pitchFamily="18" charset="0"/>
            </a:endParaRPr>
          </a:p>
          <a:p>
            <a:pPr algn="l" fontAlgn="base"/>
            <a:r>
              <a:rPr lang="en-IN" sz="2665" dirty="0">
                <a:latin typeface="Times New Roman" panose="02020603050405020304" pitchFamily="18" charset="0"/>
                <a:cs typeface="Times New Roman" panose="02020603050405020304" pitchFamily="18" charset="0"/>
                <a:sym typeface="+mn-ea"/>
              </a:rPr>
              <a:t>Existing Model</a:t>
            </a:r>
            <a:endParaRPr lang="en-IN" sz="2665" dirty="0">
              <a:latin typeface="Times New Roman" panose="02020603050405020304" pitchFamily="18" charset="0"/>
              <a:cs typeface="Times New Roman" panose="02020603050405020304" pitchFamily="18" charset="0"/>
            </a:endParaRPr>
          </a:p>
          <a:p>
            <a:pPr algn="l" fontAlgn="base"/>
            <a:r>
              <a:rPr lang="en-IN" sz="2665" dirty="0">
                <a:latin typeface="Times New Roman" panose="02020603050405020304" pitchFamily="18" charset="0"/>
                <a:cs typeface="Times New Roman" panose="02020603050405020304" pitchFamily="18" charset="0"/>
                <a:sym typeface="+mn-ea"/>
              </a:rPr>
              <a:t>Proposed Model</a:t>
            </a:r>
            <a:endParaRPr lang="en-IN" sz="2665" dirty="0">
              <a:latin typeface="Times New Roman" panose="02020603050405020304" pitchFamily="18" charset="0"/>
              <a:cs typeface="Times New Roman" panose="02020603050405020304" pitchFamily="18" charset="0"/>
            </a:endParaRPr>
          </a:p>
          <a:p>
            <a:pPr algn="l" fontAlgn="base"/>
            <a:r>
              <a:rPr lang="en-IN" sz="2665" dirty="0">
                <a:latin typeface="Times New Roman" panose="02020603050405020304" pitchFamily="18" charset="0"/>
                <a:cs typeface="Times New Roman" panose="02020603050405020304" pitchFamily="18" charset="0"/>
                <a:sym typeface="+mn-ea"/>
              </a:rPr>
              <a:t>System Architecture</a:t>
            </a:r>
            <a:endParaRPr lang="en-IN" sz="2665" dirty="0">
              <a:latin typeface="Times New Roman" panose="02020603050405020304" pitchFamily="18" charset="0"/>
              <a:cs typeface="Times New Roman" panose="02020603050405020304" pitchFamily="18" charset="0"/>
            </a:endParaRPr>
          </a:p>
          <a:p>
            <a:pPr algn="l" fontAlgn="base"/>
            <a:r>
              <a:rPr lang="en-IN" sz="2665" dirty="0">
                <a:latin typeface="Times New Roman" panose="02020603050405020304" pitchFamily="18" charset="0"/>
                <a:cs typeface="Times New Roman" panose="02020603050405020304" pitchFamily="18" charset="0"/>
                <a:sym typeface="+mn-ea"/>
              </a:rPr>
              <a:t>Implementation</a:t>
            </a:r>
            <a:endParaRPr lang="en-IN" sz="2665" dirty="0">
              <a:latin typeface="Times New Roman" panose="02020603050405020304" pitchFamily="18" charset="0"/>
              <a:cs typeface="Times New Roman" panose="02020603050405020304" pitchFamily="18" charset="0"/>
            </a:endParaRPr>
          </a:p>
          <a:p>
            <a:pPr algn="l" fontAlgn="base"/>
            <a:r>
              <a:rPr lang="en-IN" sz="2665" dirty="0">
                <a:latin typeface="Times New Roman" panose="02020603050405020304" pitchFamily="18" charset="0"/>
                <a:cs typeface="Times New Roman" panose="02020603050405020304" pitchFamily="18" charset="0"/>
                <a:sym typeface="+mn-ea"/>
              </a:rPr>
              <a:t>Results</a:t>
            </a:r>
            <a:endParaRPr lang="en-IN" sz="2665" dirty="0">
              <a:latin typeface="Times New Roman" panose="02020603050405020304" pitchFamily="18" charset="0"/>
              <a:cs typeface="Times New Roman" panose="02020603050405020304" pitchFamily="18" charset="0"/>
              <a:sym typeface="+mn-ea"/>
            </a:endParaRPr>
          </a:p>
          <a:p>
            <a:pPr algn="l" fontAlgn="base"/>
            <a:r>
              <a:rPr lang="en-IN" sz="2665" dirty="0">
                <a:latin typeface="Times New Roman" panose="02020603050405020304" pitchFamily="18" charset="0"/>
                <a:cs typeface="Times New Roman" panose="02020603050405020304" pitchFamily="18" charset="0"/>
                <a:sym typeface="+mn-ea"/>
              </a:rPr>
              <a:t>Conclusion</a:t>
            </a:r>
            <a:endParaRPr lang="en-IN" sz="2665" dirty="0">
              <a:latin typeface="Times New Roman" panose="02020603050405020304" pitchFamily="18" charset="0"/>
              <a:cs typeface="Times New Roman" panose="02020603050405020304" pitchFamily="18" charset="0"/>
              <a:sym typeface="+mn-ea"/>
            </a:endParaRPr>
          </a:p>
          <a:p>
            <a:pPr algn="l" fontAlgn="base"/>
            <a:r>
              <a:rPr lang="en-IN" sz="2665" dirty="0">
                <a:latin typeface="Times New Roman" panose="02020603050405020304" pitchFamily="18" charset="0"/>
                <a:cs typeface="Times New Roman" panose="02020603050405020304" pitchFamily="18" charset="0"/>
                <a:sym typeface="+mn-ea"/>
              </a:rPr>
              <a:t>Future Scope</a:t>
            </a:r>
            <a:endParaRPr lang="en-US" sz="2665">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US" sz="3600" b="1" dirty="0">
                <a:latin typeface="Times New Roman" panose="02020603050405020304" pitchFamily="18" charset="0"/>
                <a:cs typeface="Times New Roman" panose="02020603050405020304" pitchFamily="18" charset="0"/>
              </a:rPr>
              <a:t>ABSTRACT</a:t>
            </a:r>
            <a:endParaRPr lang="en-US" alt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lnSpc>
                <a:spcPct val="150000"/>
              </a:lnSpc>
              <a:buNone/>
            </a:pPr>
            <a:r>
              <a:rPr lang="en-US" altLang="en-US" sz="2000" dirty="0">
                <a:latin typeface="Times New Roman" panose="02020603050405020304" pitchFamily="18" charset="0"/>
                <a:cs typeface="Times New Roman" panose="02020603050405020304" pitchFamily="18" charset="0"/>
              </a:rPr>
              <a:t>Employee attrition prediction is important for improving workforce stability and organizational performance. Traditional machine learning models often rely on single classifiers, face challenges with imbalanced data, and lack interpretability, which limits their effectiveness in real-world HR decision-making. To overcome these issues, this project proposes a hybrid machine learning framework that integrates SMOTE for class imbalance handling, Genetic Algorithm (GA) for feature selection, and an ensemble of LightGBM and CatBoost classifiers using a soft-voting approach to enhance predictive performance. Additionally, SHAP-based explainability is incorporated to identify key factors influencing employee attrition, enabling transparent, accurate, and data-driven decision-making in HR analytics.</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600" b="1" dirty="0">
                <a:latin typeface="Times New Roman" panose="02020603050405020304" pitchFamily="18" charset="0"/>
                <a:cs typeface="Times New Roman" panose="02020603050405020304" pitchFamily="18" charset="0"/>
                <a:sym typeface="+mn-ea"/>
              </a:rPr>
              <a:t>Problem Statement</a:t>
            </a:r>
            <a:endParaRPr lang="en-US" sz="3600" dirty="0"/>
          </a:p>
        </p:txBody>
      </p:sp>
      <p:sp>
        <p:nvSpPr>
          <p:cNvPr id="3" name="Content Placeholder 2"/>
          <p:cNvSpPr>
            <a:spLocks noGrp="1"/>
          </p:cNvSpPr>
          <p:nvPr>
            <p:ph idx="1"/>
          </p:nvPr>
        </p:nvSpPr>
        <p:spPr>
          <a:xfrm>
            <a:off x="838200" y="1691640"/>
            <a:ext cx="10515600" cy="4485640"/>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Employee attrition has become a major challenge for organizations in today’s competitive job market, as high workforce mobility leads to productivity loss, increased recruitment costs, and disruptions in overall performance. Traditional HR analytics struggle to capture the complex factors driving employee turnover, while existing machine learning models often depend on single classifiers, face issues with imbalanced data, and offer limited interpretability. Hence, there is a clear need for a robust, hybrid, and explainable machine learning approach that can accurately predict employee attrition and support informed HR decision-making.</a:t>
            </a:r>
            <a:endParaRPr lang="en-US" sz="20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sz="3600" b="1" dirty="0">
                <a:latin typeface="Times New Roman" panose="02020603050405020304" pitchFamily="18" charset="0"/>
                <a:cs typeface="Times New Roman" panose="02020603050405020304" pitchFamily="18" charset="0"/>
                <a:sym typeface="+mn-ea"/>
              </a:rPr>
              <a:t>Objectives </a:t>
            </a:r>
            <a:endParaRPr lang="en-IN" sz="3600" b="1" dirty="0">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p:txBody>
          <a:bodyPr>
            <a:noAutofit/>
          </a:bodyPr>
          <a:p>
            <a:r>
              <a:rPr lang="en-US" altLang="en-US" sz="2000">
                <a:latin typeface="Times New Roman" panose="02020603050405020304" pitchFamily="18" charset="0"/>
                <a:cs typeface="Times New Roman" panose="02020603050405020304" pitchFamily="18" charset="0"/>
              </a:rPr>
              <a:t>To develop an efficient hybrid machine learning model for employee attrition prediction</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To handle class imbalance using SMOTE for better minority prediction</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To apply Genetic Algorithm (GA) for selecting important features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To build an ensemble model using LightGBM and CatBoost for improved accuracy</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To provide model explainability using SHAP for better decision-making</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To support HR professionals with data-driven insights for employee retention</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47320"/>
            <a:ext cx="10515600" cy="1325563"/>
          </a:xfrm>
        </p:spPr>
        <p:txBody>
          <a:bodyPr/>
          <a:p>
            <a:pPr algn="ctr"/>
            <a:r>
              <a:rPr lang="en-US" sz="3600" b="1" dirty="0">
                <a:latin typeface="Times New Roman" panose="02020603050405020304" pitchFamily="18" charset="0"/>
                <a:cs typeface="Times New Roman" panose="02020603050405020304" pitchFamily="18" charset="0"/>
                <a:sym typeface="+mn-ea"/>
              </a:rPr>
              <a:t>Literature Survey</a:t>
            </a:r>
            <a:endParaRPr lang="en-US" sz="360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nvPr>
        </p:nvGraphicFramePr>
        <p:xfrm>
          <a:off x="369570" y="699135"/>
          <a:ext cx="11409045" cy="6292215"/>
        </p:xfrm>
        <a:graphic>
          <a:graphicData uri="http://schemas.openxmlformats.org/drawingml/2006/table">
            <a:tbl>
              <a:tblPr firstRow="1" bandRow="1">
                <a:tableStyleId>{2D5ABB26-0587-4C30-8999-92F81FD0307C}</a:tableStyleId>
              </a:tblPr>
              <a:tblGrid>
                <a:gridCol w="1763395"/>
                <a:gridCol w="2439035"/>
                <a:gridCol w="2044700"/>
                <a:gridCol w="2877820"/>
                <a:gridCol w="2284095"/>
              </a:tblGrid>
              <a:tr h="458470">
                <a:tc>
                  <a:txBody>
                    <a:bodyPr/>
                    <a:lstStyle/>
                    <a:p>
                      <a:pPr>
                        <a:buNone/>
                      </a:pPr>
                      <a:r>
                        <a:rPr lang="en-IN" altLang="en-US" dirty="0"/>
                        <a:t>Author &amp; Year</a:t>
                      </a:r>
                      <a:endParaRPr lang="en-I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ltLang="en-US"/>
                        <a:t>Methodology</a:t>
                      </a:r>
                      <a:endParaRPr lang="en-IN" altLang="en-US">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ltLang="en-US"/>
                        <a:t>Dataset Used</a:t>
                      </a:r>
                      <a:endParaRPr lang="en-IN" altLang="en-US">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ltLang="en-US"/>
                        <a:t>key contributions</a:t>
                      </a:r>
                      <a:endParaRPr lang="en-IN" altLang="en-US">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ltLang="en-US" dirty="0"/>
                        <a:t>Limitation</a:t>
                      </a:r>
                      <a:endParaRPr lang="en-I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49415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a:t>Proposed Work (2026)</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en-US" sz="1400" dirty="0">
                          <a:latin typeface="Times New Roman" panose="02020603050405020304" pitchFamily="18" charset="0"/>
                          <a:cs typeface="Times New Roman" panose="02020603050405020304" pitchFamily="18" charset="0"/>
                        </a:rPr>
                        <a:t>Hybrid ensemble framework integrating SMOTE for imbalance handling, GA-based feature selection, LightGBM + CatBoost (soft voting), and SHAP explainability</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en-US" sz="1400" dirty="0"/>
                        <a:t>HR Analytics dataset</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en-US" sz="1400" dirty="0">
                          <a:latin typeface="Times New Roman" panose="02020603050405020304" pitchFamily="18" charset="0"/>
                          <a:cs typeface="Times New Roman" panose="02020603050405020304" pitchFamily="18" charset="0"/>
                        </a:rPr>
                        <a:t>Improves prediction accuracy and robustness using ensemble learning, effectively handles class imbalance, enhances feature selection, and provides interpretable insights for attrition prediction</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en-US" sz="1400" dirty="0">
                          <a:latin typeface="Times New Roman" panose="02020603050405020304" pitchFamily="18" charset="0"/>
                          <a:cs typeface="Times New Roman" panose="02020603050405020304" pitchFamily="18" charset="0"/>
                        </a:rPr>
                        <a:t>Performance depends on data quality; computational cost slightly higher due to ensemble model and GA optimization</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18845">
                <a:tc>
                  <a:txBody>
                    <a:bodyPr/>
                    <a:lstStyle/>
                    <a:p>
                      <a:pPr>
                        <a:buNone/>
                      </a:pPr>
                      <a:r>
                        <a:rPr lang="en-US" altLang="en-US" sz="1400" dirty="0"/>
                        <a:t>Base Paper</a:t>
                      </a:r>
                      <a:r>
                        <a:rPr lang="en-IN" altLang="en-US" sz="1400" dirty="0"/>
                        <a:t>(</a:t>
                      </a:r>
                      <a:r>
                        <a:rPr lang="en-US" altLang="en-US" sz="1400" dirty="0" err="1">
                          <a:sym typeface="+mn-ea"/>
                        </a:rPr>
                        <a:t>Hojat</a:t>
                      </a:r>
                      <a:r>
                        <a:rPr lang="en-US" altLang="en-US" sz="1400" dirty="0">
                          <a:sym typeface="+mn-ea"/>
                        </a:rPr>
                        <a:t>, Amid &amp; </a:t>
                      </a:r>
                      <a:r>
                        <a:rPr lang="en-IN" altLang="en-US" sz="1400" dirty="0">
                          <a:sym typeface="+mn-ea"/>
                        </a:rPr>
                        <a:t>Vahid., 202</a:t>
                      </a:r>
                      <a:r>
                        <a:rPr lang="en-US" altLang="en-IN" sz="1400" dirty="0">
                          <a:sym typeface="+mn-ea"/>
                        </a:rPr>
                        <a:t>5</a:t>
                      </a:r>
                      <a:r>
                        <a:rPr lang="en-IN" altLang="en-US" sz="1400" dirty="0">
                          <a:sym typeface="+mn-ea"/>
                        </a:rPr>
                        <a:t>)</a:t>
                      </a:r>
                      <a:r>
                        <a:rPr lang="en-US" altLang="en-US" sz="1400" dirty="0"/>
                        <a:t> </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en-US" sz="1400" dirty="0"/>
                        <a:t>GA + </a:t>
                      </a:r>
                      <a:r>
                        <a:rPr lang="en-US" altLang="en-US" sz="1400" dirty="0" err="1"/>
                        <a:t>LightGBM</a:t>
                      </a:r>
                      <a:r>
                        <a:rPr lang="en-US" altLang="en-US" sz="1400" dirty="0"/>
                        <a:t> model </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a:t>HR Analytics &amp; Organizational datasets</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a:t>Demonstrated that GA-based feature selection with </a:t>
                      </a:r>
                      <a:r>
                        <a:rPr lang="en-US" altLang="en-US" sz="1400" dirty="0" err="1"/>
                        <a:t>LightGBM</a:t>
                      </a:r>
                      <a:r>
                        <a:rPr lang="en-US" altLang="en-US" sz="1400" dirty="0"/>
                        <a:t> improves AUC and F1-score</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a:t>Uses fixed global weights and lacks ensemble diversity and explainability</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84910">
                <a:tc>
                  <a:txBody>
                    <a:bodyPr/>
                    <a:lstStyle/>
                    <a:p>
                      <a:pPr>
                        <a:buNone/>
                      </a:pPr>
                      <a:r>
                        <a:rPr lang="en-US" altLang="en-US" sz="1400" dirty="0">
                          <a:sym typeface="+mn-ea"/>
                        </a:rPr>
                        <a:t>Ahmed (2023)</a:t>
                      </a:r>
                      <a:r>
                        <a:rPr lang="en-US" altLang="en-US" sz="1400" dirty="0"/>
                        <a:t> </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a:sym typeface="+mn-ea"/>
                        </a:rPr>
                        <a:t>Neural Network–based classification model for employee turnover prediction</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a:sym typeface="+mn-ea"/>
                        </a:rPr>
                        <a:t>Organizational HR dataset</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a:sym typeface="+mn-ea"/>
                        </a:rPr>
                        <a:t>Demonstrated that neural networks can capture non-linear patterns in employee turnover and improve prediction accuracy </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a:sym typeface="+mn-ea"/>
                        </a:rPr>
                        <a:t>Lacks explainability; black-box nature makes HR decision-making difficult</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5186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err="1"/>
                        <a:t>Judrups</a:t>
                      </a:r>
                      <a:r>
                        <a:rPr lang="en-US" altLang="en-US" sz="1400" dirty="0"/>
                        <a:t> et al. (2021)</a:t>
                      </a:r>
                      <a:endParaRPr lang="en-US" altLang="en-US" sz="1400" dirty="0"/>
                    </a:p>
                    <a:p>
                      <a:pPr>
                        <a:buNone/>
                      </a:pPr>
                      <a:endParaRPr lang="en-IN"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a:t>Supervised ML models (Logistic Regression, SVM, Random Forest)</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a:t>Organizational dataset</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en-US" sz="1400" dirty="0"/>
                        <a:t>Compared multiple ML classifiers and highlighted Random Forest as a strong baseline model</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a:t>Limited performance due to redundant features; no ensemble optimization</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83970">
                <a:tc>
                  <a:txBody>
                    <a:bodyPr/>
                    <a:lstStyle/>
                    <a:p>
                      <a:pPr>
                        <a:buNone/>
                      </a:pPr>
                      <a:r>
                        <a:rPr lang="en-US" altLang="en-US" sz="1400" dirty="0"/>
                        <a:t>Jain &amp; Nayyar (2018)</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err="1"/>
                        <a:t>XGBoost</a:t>
                      </a:r>
                      <a:r>
                        <a:rPr lang="en-US" altLang="en-US" sz="1400" dirty="0"/>
                        <a:t>-based machine learning model</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en-US" sz="1400" dirty="0"/>
                        <a:t>IBM HR Analytics dataset</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a:t>Showed that gradient boosting methods outperform logistic regression in predicting employee attrition</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a:t>Does not address class imbalance; no feature selection or interpretability</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sz="3600" b="1" dirty="0">
                <a:latin typeface="Times New Roman" panose="02020603050405020304" pitchFamily="18" charset="0"/>
                <a:cs typeface="Times New Roman" panose="02020603050405020304" pitchFamily="18" charset="0"/>
                <a:sym typeface="+mn-ea"/>
              </a:rPr>
              <a:t>Existing work</a:t>
            </a:r>
            <a:endParaRPr lang="en-US" sz="3600"/>
          </a:p>
        </p:txBody>
      </p:sp>
      <p:sp>
        <p:nvSpPr>
          <p:cNvPr id="3" name="Content Placeholder 2"/>
          <p:cNvSpPr>
            <a:spLocks noGrp="1"/>
          </p:cNvSpPr>
          <p:nvPr>
            <p:ph idx="1"/>
          </p:nvPr>
        </p:nvSpPr>
        <p:spPr/>
        <p:txBody>
          <a:bodyPr/>
          <a:p>
            <a:pPr marL="0" indent="0">
              <a:lnSpc>
                <a:spcPct val="150000"/>
              </a:lnSpc>
              <a:buNone/>
            </a:pPr>
            <a:r>
              <a:rPr lang="en-US" altLang="en-US" sz="2000" dirty="0">
                <a:latin typeface="Times New Roman" panose="02020603050405020304" pitchFamily="18" charset="0"/>
                <a:cs typeface="Times New Roman" panose="02020603050405020304" pitchFamily="18" charset="0"/>
                <a:sym typeface="+mn-ea"/>
              </a:rPr>
              <a:t>In existing paper Genetic Algorithm (GA) for optimal feature selection by eliminating redundant and irrelevant attributes. Effectively reduces feature dimensionality using GA-based optimization. </a:t>
            </a:r>
            <a:r>
              <a:rPr lang="en-US" altLang="en-US" sz="2000" dirty="0" err="1">
                <a:latin typeface="Times New Roman" panose="02020603050405020304" pitchFamily="18" charset="0"/>
                <a:cs typeface="Times New Roman" panose="02020603050405020304" pitchFamily="18" charset="0"/>
                <a:sym typeface="+mn-ea"/>
              </a:rPr>
              <a:t>LightGBM</a:t>
            </a:r>
            <a:r>
              <a:rPr lang="en-US" altLang="en-US" sz="2000" dirty="0">
                <a:latin typeface="Times New Roman" panose="02020603050405020304" pitchFamily="18" charset="0"/>
                <a:cs typeface="Times New Roman" panose="02020603050405020304" pitchFamily="18" charset="0"/>
                <a:sym typeface="+mn-ea"/>
              </a:rPr>
              <a:t> provides fast training and strong performance on structured HR data. Relies on a single classifier, limiting model diversity and robustness</a:t>
            </a:r>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8130"/>
            <a:ext cx="10515600" cy="1325563"/>
          </a:xfrm>
        </p:spPr>
        <p:txBody>
          <a:bodyPr/>
          <a:lstStyle/>
          <a:p>
            <a:pPr algn="ctr"/>
            <a:r>
              <a:rPr lang="en-IN" altLang="en-US" sz="3600" b="1">
                <a:latin typeface="Times New Roman" panose="02020603050405020304" pitchFamily="18" charset="0"/>
                <a:cs typeface="Times New Roman" panose="02020603050405020304" pitchFamily="18" charset="0"/>
                <a:sym typeface="+mn-ea"/>
              </a:rPr>
              <a:t>Proposed Work</a:t>
            </a:r>
            <a:endParaRPr lang="en-US" sz="3600"/>
          </a:p>
        </p:txBody>
      </p:sp>
      <p:sp>
        <p:nvSpPr>
          <p:cNvPr id="3" name="Content Placeholder 2"/>
          <p:cNvSpPr>
            <a:spLocks noGrp="1"/>
          </p:cNvSpPr>
          <p:nvPr>
            <p:ph idx="1"/>
          </p:nvPr>
        </p:nvSpPr>
        <p:spPr>
          <a:xfrm>
            <a:off x="838200" y="1691005"/>
            <a:ext cx="10515600" cy="4351338"/>
          </a:xfrm>
        </p:spPr>
        <p:txBody>
          <a:bodyPr>
            <a:noAutofit/>
          </a:bodyPr>
          <a:lstStyle/>
          <a:p>
            <a:pPr marL="0" indent="0" algn="just">
              <a:lnSpc>
                <a:spcPct val="150000"/>
              </a:lnSpc>
              <a:buNone/>
            </a:pPr>
            <a:r>
              <a:rPr lang="en-US" altLang="en-US" sz="2000" dirty="0">
                <a:latin typeface="Times New Roman" panose="02020603050405020304" pitchFamily="18" charset="0"/>
                <a:cs typeface="Times New Roman" panose="02020603050405020304" pitchFamily="18" charset="0"/>
              </a:rPr>
              <a:t>The proposed work uses SMOTE oversampling to effectively handle class imbalance and improve recall for minority attrition cases. It integrates Genetic Algorithm (GA) for feature selection and combines LightGBM and CatBoost classifiers using a soft voting ensemble to enhance prediction accuracy, robustness, and generalization. Additionally, SHAP is incorporated to interpret model predictions and identify key factors influencing employee attrition, enabling transparent and data-driven HR decision-making.</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1935"/>
            <a:ext cx="10515600" cy="1325563"/>
          </a:xfrm>
        </p:spPr>
        <p:txBody>
          <a:bodyPr/>
          <a:lstStyle/>
          <a:p>
            <a:pPr algn="ctr"/>
            <a:r>
              <a:rPr lang="en-US" sz="3600" b="1">
                <a:latin typeface="Times New Roman" panose="02020603050405020304" pitchFamily="18" charset="0"/>
                <a:cs typeface="Times New Roman" panose="02020603050405020304" pitchFamily="18" charset="0"/>
              </a:rPr>
              <a:t>System A</a:t>
            </a:r>
            <a:r>
              <a:rPr lang="en-US" altLang="en-US" sz="3600" b="1">
                <a:latin typeface="Times New Roman" panose="02020603050405020304" pitchFamily="18" charset="0"/>
                <a:cs typeface="Times New Roman" panose="02020603050405020304" pitchFamily="18" charset="0"/>
              </a:rPr>
              <a:t>rchitecture</a:t>
            </a:r>
            <a:endParaRPr lang="en-US" altLang="en-US" sz="3600" b="1">
              <a:latin typeface="Times New Roman" panose="02020603050405020304" pitchFamily="18" charset="0"/>
              <a:cs typeface="Times New Roman" panose="02020603050405020304" pitchFamily="18" charset="0"/>
            </a:endParaRPr>
          </a:p>
        </p:txBody>
      </p:sp>
      <p:sp>
        <p:nvSpPr>
          <p:cNvPr id="3" name="Round Diagonal Corner Rectangle 2"/>
          <p:cNvSpPr/>
          <p:nvPr/>
        </p:nvSpPr>
        <p:spPr>
          <a:xfrm rot="20640000">
            <a:off x="536575" y="915035"/>
            <a:ext cx="1748155" cy="697865"/>
          </a:xfrm>
          <a:prstGeom prst="round2Diag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 name="Rectangles 4"/>
          <p:cNvSpPr/>
          <p:nvPr/>
        </p:nvSpPr>
        <p:spPr>
          <a:xfrm>
            <a:off x="10455910" y="4994910"/>
            <a:ext cx="1312545" cy="71945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10" name="Content Placeholder 6" descr="C:/Users/karth/Downloads/project/System Architecteure.pngSystem Architecteure"/>
          <p:cNvPicPr>
            <a:picLocks noGrp="1" noChangeAspect="1"/>
          </p:cNvPicPr>
          <p:nvPr/>
        </p:nvPicPr>
        <p:blipFill>
          <a:blip r:embed="rId1"/>
          <a:srcRect t="3626" b="-53"/>
          <a:stretch>
            <a:fillRect/>
          </a:stretch>
        </p:blipFill>
        <p:spPr>
          <a:xfrm>
            <a:off x="2230755" y="835025"/>
            <a:ext cx="8224520" cy="58908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nvSpPr>
        <p:spPr>
          <a:xfrm>
            <a:off x="840105" y="598170"/>
            <a:ext cx="3931920" cy="8248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IN" b="1" dirty="0">
                <a:latin typeface="Times New Roman" panose="02020603050405020304" pitchFamily="18" charset="0"/>
                <a:cs typeface="Times New Roman" panose="02020603050405020304" pitchFamily="18" charset="0"/>
              </a:rPr>
              <a:t>Dataset Used</a:t>
            </a:r>
            <a:endParaRPr lang="en-IN" b="1" dirty="0">
              <a:latin typeface="Times New Roman" panose="02020603050405020304" pitchFamily="18" charset="0"/>
              <a:cs typeface="Times New Roman" panose="02020603050405020304" pitchFamily="18" charset="0"/>
            </a:endParaRPr>
          </a:p>
        </p:txBody>
      </p:sp>
      <p:sp>
        <p:nvSpPr>
          <p:cNvPr id="6" name="Text Placeholder 5"/>
          <p:cNvSpPr>
            <a:spLocks noGrp="1"/>
          </p:cNvSpPr>
          <p:nvPr>
            <p:ph type="body" sz="half" idx="2"/>
          </p:nvPr>
        </p:nvSpPr>
        <p:spPr>
          <a:xfrm>
            <a:off x="840105" y="1423035"/>
            <a:ext cx="4130675" cy="4235450"/>
          </a:xfrm>
        </p:spPr>
        <p:txBody>
          <a:bodyPr>
            <a:noAutofit/>
          </a:bodyPr>
          <a:lstStyle/>
          <a:p>
            <a:pPr marL="0" indent="0" algn="just">
              <a:lnSpc>
                <a:spcPct val="120000"/>
              </a:lnSpc>
              <a:buNone/>
            </a:pPr>
            <a:r>
              <a:rPr lang="en-US" altLang="en-US" sz="2000" dirty="0">
                <a:latin typeface="Times New Roman" panose="02020603050405020304" pitchFamily="18" charset="0"/>
                <a:cs typeface="Times New Roman" panose="02020603050405020304" pitchFamily="18" charset="0"/>
              </a:rPr>
              <a:t>This project uses a publicly available employee attrition dataset comprising demographic and job-related attributes. Preprocessing includes categorical encoding, feature scaling, and removal of irrelevant features. SMOTE is applied to resolve class imbalance, followed by stratified trai</a:t>
            </a:r>
            <a:r>
              <a:rPr lang="en-IN" altLang="en-US" sz="2000" dirty="0">
                <a:latin typeface="Times New Roman" panose="02020603050405020304" pitchFamily="18" charset="0"/>
                <a:cs typeface="Times New Roman" panose="02020603050405020304" pitchFamily="18" charset="0"/>
              </a:rPr>
              <a:t>n-</a:t>
            </a:r>
            <a:r>
              <a:rPr lang="en-US" altLang="en-US" sz="2000" dirty="0">
                <a:latin typeface="Times New Roman" panose="02020603050405020304" pitchFamily="18" charset="0"/>
                <a:cs typeface="Times New Roman" panose="02020603050405020304" pitchFamily="18" charset="0"/>
              </a:rPr>
              <a:t>test splitting. The processed data is used to train a hybrid ensemble model combining LightGBM and CatBoost using a soft-voting approach, along with SHAP-based explainability to interpret predictions.</a:t>
            </a:r>
            <a:endParaRPr lang="en-US" altLang="en-US" sz="2000" dirty="0">
              <a:latin typeface="Times New Roman" panose="02020603050405020304" pitchFamily="18" charset="0"/>
              <a:cs typeface="Times New Roman" panose="02020603050405020304" pitchFamily="18" charset="0"/>
            </a:endParaRPr>
          </a:p>
          <a:p>
            <a:pPr marL="0" indent="0" algn="just">
              <a:lnSpc>
                <a:spcPct val="120000"/>
              </a:lnSpc>
              <a:buNone/>
            </a:pPr>
            <a:endParaRPr lang="en-US" altLang="en-US" sz="2000" dirty="0">
              <a:latin typeface="Times New Roman" panose="02020603050405020304" pitchFamily="18" charset="0"/>
              <a:cs typeface="Times New Roman" panose="02020603050405020304" pitchFamily="18" charset="0"/>
            </a:endParaRPr>
          </a:p>
          <a:p>
            <a:pPr marL="0" indent="0" algn="just">
              <a:lnSpc>
                <a:spcPct val="120000"/>
              </a:lnSpc>
              <a:buNone/>
            </a:pPr>
            <a:endParaRPr lang="en-US" altLang="en-US"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4970780" y="1423035"/>
            <a:ext cx="7073900" cy="44481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600" b="1" dirty="0">
                <a:latin typeface="Times New Roman" panose="02020603050405020304" pitchFamily="18" charset="0"/>
                <a:cs typeface="Times New Roman" panose="02020603050405020304" pitchFamily="18" charset="0"/>
                <a:sym typeface="+mn-ea"/>
              </a:rPr>
              <a:t>Implementation</a:t>
            </a:r>
            <a:endParaRPr lang="en-US" sz="3600" b="1"/>
          </a:p>
        </p:txBody>
      </p:sp>
      <p:sp>
        <p:nvSpPr>
          <p:cNvPr id="3" name="Content Placeholder 2"/>
          <p:cNvSpPr>
            <a:spLocks noGrp="1"/>
          </p:cNvSpPr>
          <p:nvPr>
            <p:ph idx="1"/>
          </p:nvPr>
        </p:nvSpPr>
        <p:spPr/>
        <p:txBody>
          <a:bodyPr>
            <a:noAutofit/>
          </a:bodyPr>
          <a:p>
            <a:pPr marL="457200" lvl="0" indent="-457200" algn="just" eaLnBrk="0" fontAlgn="base" hangingPunct="0">
              <a:lnSpc>
                <a:spcPct val="150000"/>
              </a:lnSpc>
              <a:spcBef>
                <a:spcPct val="0"/>
              </a:spcBef>
              <a:spcAft>
                <a:spcPct val="0"/>
              </a:spcAft>
              <a:buFont typeface="+mj-lt"/>
              <a:buAutoNum type="arabicPeriod"/>
            </a:pPr>
            <a:r>
              <a:rPr lang="en-US" altLang="en-US" sz="2000">
                <a:latin typeface="Times New Roman" panose="02020603050405020304" pitchFamily="18" charset="0"/>
                <a:cs typeface="Times New Roman" panose="02020603050405020304" pitchFamily="18" charset="0"/>
              </a:rPr>
              <a:t>Dataset: HR Analytics dataset (Employee attrition data)</a:t>
            </a:r>
            <a:endParaRPr lang="en-US" altLang="en-US" sz="2000">
              <a:latin typeface="Times New Roman" panose="02020603050405020304" pitchFamily="18" charset="0"/>
              <a:cs typeface="Times New Roman" panose="02020603050405020304" pitchFamily="18" charset="0"/>
            </a:endParaRPr>
          </a:p>
          <a:p>
            <a:pPr marL="457200" lvl="0" indent="-457200" algn="just" eaLnBrk="0" fontAlgn="base" hangingPunct="0">
              <a:lnSpc>
                <a:spcPct val="150000"/>
              </a:lnSpc>
              <a:spcBef>
                <a:spcPct val="0"/>
              </a:spcBef>
              <a:spcAft>
                <a:spcPct val="0"/>
              </a:spcAft>
              <a:buFont typeface="+mj-lt"/>
              <a:buAutoNum type="arabicPeriod"/>
            </a:pPr>
            <a:r>
              <a:rPr lang="en-US" altLang="en-US" sz="2000">
                <a:latin typeface="Times New Roman" panose="02020603050405020304" pitchFamily="18" charset="0"/>
                <a:cs typeface="Times New Roman" panose="02020603050405020304" pitchFamily="18" charset="0"/>
              </a:rPr>
              <a:t>Data Preprocessing: Missing value handling, Label Encoding, Normalization, and SMOTE for class balancing</a:t>
            </a:r>
            <a:endParaRPr lang="en-US" altLang="en-US" sz="2000">
              <a:latin typeface="Times New Roman" panose="02020603050405020304" pitchFamily="18" charset="0"/>
              <a:cs typeface="Times New Roman" panose="02020603050405020304" pitchFamily="18" charset="0"/>
            </a:endParaRPr>
          </a:p>
          <a:p>
            <a:pPr marL="457200" lvl="0" indent="-457200" algn="just" eaLnBrk="0" fontAlgn="base" hangingPunct="0">
              <a:lnSpc>
                <a:spcPct val="150000"/>
              </a:lnSpc>
              <a:spcBef>
                <a:spcPct val="0"/>
              </a:spcBef>
              <a:spcAft>
                <a:spcPct val="0"/>
              </a:spcAft>
              <a:buFont typeface="+mj-lt"/>
              <a:buAutoNum type="arabicPeriod"/>
            </a:pPr>
            <a:r>
              <a:rPr lang="en-US" altLang="en-US" sz="2000">
                <a:latin typeface="Times New Roman" panose="02020603050405020304" pitchFamily="18" charset="0"/>
                <a:cs typeface="Times New Roman" panose="02020603050405020304" pitchFamily="18" charset="0"/>
              </a:rPr>
              <a:t>Dataset Split: 80% training and 20% testing (stratified split)</a:t>
            </a:r>
            <a:endParaRPr lang="en-US" altLang="en-US" sz="2000">
              <a:latin typeface="Times New Roman" panose="02020603050405020304" pitchFamily="18" charset="0"/>
              <a:cs typeface="Times New Roman" panose="02020603050405020304" pitchFamily="18" charset="0"/>
            </a:endParaRPr>
          </a:p>
          <a:p>
            <a:pPr marL="457200" lvl="0" indent="-457200" algn="just" eaLnBrk="0" fontAlgn="base" hangingPunct="0">
              <a:lnSpc>
                <a:spcPct val="150000"/>
              </a:lnSpc>
              <a:spcBef>
                <a:spcPct val="0"/>
              </a:spcBef>
              <a:spcAft>
                <a:spcPct val="0"/>
              </a:spcAft>
              <a:buFont typeface="+mj-lt"/>
              <a:buAutoNum type="arabicPeriod"/>
            </a:pPr>
            <a:r>
              <a:rPr lang="en-US" altLang="en-US" sz="2000">
                <a:latin typeface="Times New Roman" panose="02020603050405020304" pitchFamily="18" charset="0"/>
                <a:cs typeface="Times New Roman" panose="02020603050405020304" pitchFamily="18" charset="0"/>
              </a:rPr>
              <a:t>Feature Selection: Genetic Algorithm (GA) to select optimal features</a:t>
            </a:r>
            <a:endParaRPr lang="en-US" altLang="en-US" sz="2000">
              <a:latin typeface="Times New Roman" panose="02020603050405020304" pitchFamily="18" charset="0"/>
              <a:cs typeface="Times New Roman" panose="02020603050405020304" pitchFamily="18" charset="0"/>
            </a:endParaRPr>
          </a:p>
          <a:p>
            <a:pPr marL="457200" lvl="0" indent="-457200" algn="just" eaLnBrk="0" fontAlgn="base" hangingPunct="0">
              <a:lnSpc>
                <a:spcPct val="150000"/>
              </a:lnSpc>
              <a:spcBef>
                <a:spcPct val="0"/>
              </a:spcBef>
              <a:spcAft>
                <a:spcPct val="0"/>
              </a:spcAft>
              <a:buFont typeface="+mj-lt"/>
              <a:buAutoNum type="arabicPeriod"/>
            </a:pPr>
            <a:r>
              <a:rPr lang="en-US" altLang="en-US" sz="2000">
                <a:latin typeface="Times New Roman" panose="02020603050405020304" pitchFamily="18" charset="0"/>
                <a:cs typeface="Times New Roman" panose="02020603050405020304" pitchFamily="18" charset="0"/>
              </a:rPr>
              <a:t>Base Models: LightGBM and CatBoost classifiers</a:t>
            </a:r>
            <a:endParaRPr lang="en-US" altLang="en-US" sz="2000">
              <a:latin typeface="Times New Roman" panose="02020603050405020304" pitchFamily="18" charset="0"/>
              <a:cs typeface="Times New Roman" panose="02020603050405020304" pitchFamily="18" charset="0"/>
            </a:endParaRPr>
          </a:p>
          <a:p>
            <a:pPr marL="457200" lvl="0" indent="-457200" algn="just" eaLnBrk="0" fontAlgn="base" hangingPunct="0">
              <a:lnSpc>
                <a:spcPct val="150000"/>
              </a:lnSpc>
              <a:spcBef>
                <a:spcPct val="0"/>
              </a:spcBef>
              <a:spcAft>
                <a:spcPct val="0"/>
              </a:spcAft>
              <a:buFont typeface="+mj-lt"/>
              <a:buAutoNum type="arabicPeriod"/>
            </a:pPr>
            <a:r>
              <a:rPr lang="en-US" altLang="en-US" sz="2000">
                <a:latin typeface="Times New Roman" panose="02020603050405020304" pitchFamily="18" charset="0"/>
                <a:cs typeface="Times New Roman" panose="02020603050405020304" pitchFamily="18" charset="0"/>
              </a:rPr>
              <a:t>Ensemble Method: Soft voting to combine predictions from both models</a:t>
            </a:r>
            <a:endParaRPr lang="en-US" altLang="en-US" sz="2000">
              <a:latin typeface="Times New Roman" panose="02020603050405020304" pitchFamily="18" charset="0"/>
              <a:cs typeface="Times New Roman" panose="02020603050405020304" pitchFamily="18" charset="0"/>
            </a:endParaRPr>
          </a:p>
          <a:p>
            <a:pPr marL="457200" lvl="0" indent="-457200" algn="just" eaLnBrk="0" fontAlgn="base" hangingPunct="0">
              <a:lnSpc>
                <a:spcPct val="150000"/>
              </a:lnSpc>
              <a:spcBef>
                <a:spcPct val="0"/>
              </a:spcBef>
              <a:spcAft>
                <a:spcPct val="0"/>
              </a:spcAft>
              <a:buFont typeface="+mj-lt"/>
              <a:buAutoNum type="arabicPeriod"/>
            </a:pPr>
            <a:r>
              <a:rPr lang="en-US" altLang="en-US" sz="2000">
                <a:latin typeface="Times New Roman" panose="02020603050405020304" pitchFamily="18" charset="0"/>
                <a:cs typeface="Times New Roman" panose="02020603050405020304" pitchFamily="18" charset="0"/>
              </a:rPr>
              <a:t>Model Evaluation: Accuracy, Precision, Recall, F1-score, and ROC-AUC</a:t>
            </a:r>
            <a:endParaRPr lang="en-US" altLang="en-US" sz="2000">
              <a:latin typeface="Times New Roman" panose="02020603050405020304" pitchFamily="18" charset="0"/>
              <a:cs typeface="Times New Roman" panose="02020603050405020304" pitchFamily="18" charset="0"/>
            </a:endParaRPr>
          </a:p>
          <a:p>
            <a:pPr marL="457200" lvl="0" indent="-457200" algn="just" eaLnBrk="0" fontAlgn="base" hangingPunct="0">
              <a:lnSpc>
                <a:spcPct val="150000"/>
              </a:lnSpc>
              <a:spcBef>
                <a:spcPct val="0"/>
              </a:spcBef>
              <a:spcAft>
                <a:spcPct val="0"/>
              </a:spcAft>
              <a:buFont typeface="+mj-lt"/>
              <a:buAutoNum type="arabicPeriod"/>
            </a:pPr>
            <a:r>
              <a:rPr lang="en-US" altLang="en-US" sz="2000">
                <a:latin typeface="Times New Roman" panose="02020603050405020304" pitchFamily="18" charset="0"/>
                <a:cs typeface="Times New Roman" panose="02020603050405020304" pitchFamily="18" charset="0"/>
              </a:rPr>
              <a:t>Explainability: SHAP used for feature importance and prediction interpretation</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600" b="1">
                <a:latin typeface="Times New Roman" panose="02020603050405020304" pitchFamily="18" charset="0"/>
                <a:cs typeface="Times New Roman" panose="02020603050405020304" pitchFamily="18" charset="0"/>
              </a:rPr>
              <a:t>Results</a:t>
            </a:r>
            <a:endParaRPr lang="en-US" sz="3600" b="1">
              <a:latin typeface="Times New Roman" panose="02020603050405020304" pitchFamily="18" charset="0"/>
              <a:cs typeface="Times New Roman" panose="02020603050405020304" pitchFamily="18" charset="0"/>
            </a:endParaRPr>
          </a:p>
        </p:txBody>
      </p:sp>
      <p:pic>
        <p:nvPicPr>
          <p:cNvPr id="8" name="Content Placeholder 7" descr="C:/Users/karth/Downloads/project/proposed vs existing.pngproposed vs existing"/>
          <p:cNvPicPr>
            <a:picLocks noGrp="1" noChangeAspect="1"/>
          </p:cNvPicPr>
          <p:nvPr>
            <p:ph idx="1"/>
          </p:nvPr>
        </p:nvPicPr>
        <p:blipFill>
          <a:blip r:embed="rId1"/>
          <a:srcRect l="-1" r="785" b="3323"/>
          <a:stretch>
            <a:fillRect/>
          </a:stretch>
        </p:blipFill>
        <p:spPr>
          <a:xfrm>
            <a:off x="6496050" y="1431925"/>
            <a:ext cx="5539740" cy="4766310"/>
          </a:xfrm>
          <a:prstGeom prst="rect">
            <a:avLst/>
          </a:prstGeom>
        </p:spPr>
      </p:pic>
      <p:sp>
        <p:nvSpPr>
          <p:cNvPr id="4" name="Text Box 3"/>
          <p:cNvSpPr txBox="1"/>
          <p:nvPr/>
        </p:nvSpPr>
        <p:spPr>
          <a:xfrm>
            <a:off x="838200" y="1431925"/>
            <a:ext cx="5657850" cy="2637790"/>
          </a:xfrm>
          <a:prstGeom prst="rect">
            <a:avLst/>
          </a:prstGeom>
          <a:noFill/>
        </p:spPr>
        <p:txBody>
          <a:bodyPr wrap="square" rtlCol="0">
            <a:noAutofit/>
          </a:bodyPr>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The proposed hybrid model (GA + LightGBM + CatBoost) shows improved performance compared to the existing model.</a:t>
            </a:r>
            <a:endParaRPr lang="en-US" altLang="en-US" sz="20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20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Achieved higher Accuracy (93%) compared to 92% in existing model.</a:t>
            </a:r>
            <a:endParaRPr lang="en-US" altLang="en-US" sz="20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20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Significant improvement in Precision (96%) and Recall (90%), leading to better detection of attrition cases.</a:t>
            </a:r>
            <a:endParaRPr lang="en-US" altLang="en-US" sz="20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20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The F1-score also increased to 93%, indicating balanced performance across classes.</a:t>
            </a:r>
            <a:endParaRPr lang="en-US" altLang="en-US" sz="20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20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Overall, the ensemble approach provides better stability and reliable predictions.</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241415" y="3526790"/>
            <a:ext cx="1675130" cy="949960"/>
          </a:xfrm>
        </p:spPr>
        <p:txBody>
          <a:bodyPr>
            <a:normAutofit fontScale="90000"/>
          </a:bodyPr>
          <a:p>
            <a:r>
              <a:rPr lang="en-IN" altLang="en-US"/>
              <a:t>  </a:t>
            </a:r>
            <a:br>
              <a:rPr lang="en-IN" altLang="en-US"/>
            </a:br>
            <a:endParaRPr lang="en-IN" altLang="en-US"/>
          </a:p>
        </p:txBody>
      </p:sp>
      <p:pic>
        <p:nvPicPr>
          <p:cNvPr id="6" name="Picture 12" descr="C:/Users/karth/Downloads/project/SHAP Feature Importance.pngSHAP Feature Importance"/>
          <p:cNvPicPr>
            <a:picLocks noChangeAspect="1"/>
          </p:cNvPicPr>
          <p:nvPr>
            <p:ph idx="1"/>
          </p:nvPr>
        </p:nvPicPr>
        <p:blipFill>
          <a:blip r:embed="rId1"/>
          <a:srcRect l="851" t="298" r="1731" b="556"/>
          <a:stretch>
            <a:fillRect/>
          </a:stretch>
        </p:blipFill>
        <p:spPr>
          <a:xfrm>
            <a:off x="6486525" y="1068070"/>
            <a:ext cx="5055235" cy="5403850"/>
          </a:xfrm>
          <a:prstGeom prst="rect">
            <a:avLst/>
          </a:prstGeom>
        </p:spPr>
      </p:pic>
      <p:sp>
        <p:nvSpPr>
          <p:cNvPr id="5" name="Title 3"/>
          <p:cNvSpPr>
            <a:spLocks noGrp="1"/>
          </p:cNvSpPr>
          <p:nvPr/>
        </p:nvSpPr>
        <p:spPr>
          <a:xfrm>
            <a:off x="840105" y="598170"/>
            <a:ext cx="4205605" cy="82486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IN" b="1" dirty="0">
                <a:latin typeface="Times New Roman" panose="02020603050405020304" pitchFamily="18" charset="0"/>
                <a:cs typeface="Times New Roman" panose="02020603050405020304" pitchFamily="18" charset="0"/>
                <a:sym typeface="+mn-ea"/>
              </a:rPr>
              <a:t>Explainability (SHAP)</a:t>
            </a:r>
            <a:endParaRPr lang="en-IN" b="1" dirty="0">
              <a:latin typeface="Times New Roman" panose="02020603050405020304" pitchFamily="18" charset="0"/>
              <a:cs typeface="Times New Roman" panose="02020603050405020304" pitchFamily="18" charset="0"/>
              <a:sym typeface="+mn-ea"/>
            </a:endParaRPr>
          </a:p>
        </p:txBody>
      </p:sp>
      <p:sp>
        <p:nvSpPr>
          <p:cNvPr id="8" name="Text Box 7"/>
          <p:cNvSpPr txBox="1"/>
          <p:nvPr/>
        </p:nvSpPr>
        <p:spPr>
          <a:xfrm>
            <a:off x="358140" y="1640205"/>
            <a:ext cx="5985510" cy="3217545"/>
          </a:xfrm>
          <a:prstGeom prst="rect">
            <a:avLst/>
          </a:prstGeom>
        </p:spPr>
        <p:txBody>
          <a:bodyPr>
            <a:noAutofit/>
          </a:bodyPr>
          <a:p>
            <a:pPr marL="285750" indent="-285750">
              <a:buFont typeface="Arial" panose="020B0604020202020204" pitchFamily="34" charset="0"/>
              <a:buChar char="•"/>
            </a:pPr>
            <a:r>
              <a:rPr lang="en-US" altLang="en-US" sz="2000" b="0" i="0">
                <a:solidFill>
                  <a:schemeClr val="tx1"/>
                </a:solidFill>
                <a:latin typeface="Times New Roman" panose="02020603050405020304" pitchFamily="18" charset="0"/>
                <a:ea typeface="ui-sans-serif"/>
                <a:cs typeface="Times New Roman" panose="02020603050405020304" pitchFamily="18" charset="0"/>
              </a:rPr>
              <a:t>SHAP analysis is used to interpret the model’s predictions and identify important features.</a:t>
            </a:r>
            <a:endParaRPr lang="en-US" altLang="en-US" sz="2000" b="0" i="0">
              <a:solidFill>
                <a:schemeClr val="tx1"/>
              </a:solidFill>
              <a:latin typeface="Times New Roman" panose="02020603050405020304" pitchFamily="18" charset="0"/>
              <a:ea typeface="ui-sans-serif"/>
              <a:cs typeface="Times New Roman" panose="02020603050405020304" pitchFamily="18" charset="0"/>
            </a:endParaRPr>
          </a:p>
          <a:p>
            <a:pPr marL="285750" indent="-285750">
              <a:buFont typeface="Arial" panose="020B0604020202020204" pitchFamily="34" charset="0"/>
              <a:buChar char="•"/>
            </a:pPr>
            <a:endParaRPr lang="en-US" altLang="en-US" sz="2000" b="0" i="0">
              <a:solidFill>
                <a:schemeClr val="tx1"/>
              </a:solidFill>
              <a:latin typeface="Times New Roman" panose="02020603050405020304" pitchFamily="18" charset="0"/>
              <a:ea typeface="ui-sans-serif"/>
              <a:cs typeface="Times New Roman" panose="02020603050405020304" pitchFamily="18" charset="0"/>
            </a:endParaRPr>
          </a:p>
          <a:p>
            <a:pPr marL="285750" indent="-285750">
              <a:buFont typeface="Arial" panose="020B0604020202020204" pitchFamily="34" charset="0"/>
              <a:buChar char="•"/>
            </a:pPr>
            <a:r>
              <a:rPr lang="en-US" altLang="en-US" sz="2000" b="0" i="0">
                <a:solidFill>
                  <a:schemeClr val="tx1"/>
                </a:solidFill>
                <a:latin typeface="Times New Roman" panose="02020603050405020304" pitchFamily="18" charset="0"/>
                <a:ea typeface="ui-sans-serif"/>
                <a:cs typeface="Times New Roman" panose="02020603050405020304" pitchFamily="18" charset="0"/>
              </a:rPr>
              <a:t>The graph shows the top factors influencing employee attrition.</a:t>
            </a:r>
            <a:endParaRPr lang="en-US" altLang="en-US" sz="2000" b="0" i="0">
              <a:solidFill>
                <a:schemeClr val="tx1"/>
              </a:solidFill>
              <a:latin typeface="Times New Roman" panose="02020603050405020304" pitchFamily="18" charset="0"/>
              <a:ea typeface="ui-sans-serif"/>
              <a:cs typeface="Times New Roman" panose="02020603050405020304" pitchFamily="18" charset="0"/>
            </a:endParaRPr>
          </a:p>
          <a:p>
            <a:pPr marL="285750" indent="-285750">
              <a:buFont typeface="Arial" panose="020B0604020202020204" pitchFamily="34" charset="0"/>
              <a:buChar char="•"/>
            </a:pPr>
            <a:endParaRPr lang="en-US" altLang="en-US" sz="2000" b="0" i="0">
              <a:solidFill>
                <a:schemeClr val="tx1"/>
              </a:solidFill>
              <a:latin typeface="Times New Roman" panose="02020603050405020304" pitchFamily="18" charset="0"/>
              <a:ea typeface="ui-sans-serif"/>
              <a:cs typeface="Times New Roman" panose="02020603050405020304" pitchFamily="18" charset="0"/>
            </a:endParaRPr>
          </a:p>
          <a:p>
            <a:pPr marL="285750" indent="-285750">
              <a:buFont typeface="Arial" panose="020B0604020202020204" pitchFamily="34" charset="0"/>
              <a:buChar char="•"/>
            </a:pPr>
            <a:r>
              <a:rPr lang="en-US" altLang="en-US" sz="2000" b="0" i="0">
                <a:solidFill>
                  <a:schemeClr val="tx1"/>
                </a:solidFill>
                <a:latin typeface="Times New Roman" panose="02020603050405020304" pitchFamily="18" charset="0"/>
                <a:ea typeface="ui-sans-serif"/>
                <a:cs typeface="Times New Roman" panose="02020603050405020304" pitchFamily="18" charset="0"/>
              </a:rPr>
              <a:t>OverTime, StockOptionLevel, and JobLevel are the most important features affecting predictions.</a:t>
            </a:r>
            <a:endParaRPr lang="en-US" altLang="en-US" sz="2000" b="0" i="0">
              <a:solidFill>
                <a:schemeClr val="tx1"/>
              </a:solidFill>
              <a:latin typeface="Times New Roman" panose="02020603050405020304" pitchFamily="18" charset="0"/>
              <a:ea typeface="ui-sans-serif"/>
              <a:cs typeface="Times New Roman" panose="02020603050405020304" pitchFamily="18" charset="0"/>
            </a:endParaRPr>
          </a:p>
          <a:p>
            <a:pPr marL="285750" indent="-285750">
              <a:buFont typeface="Arial" panose="020B0604020202020204" pitchFamily="34" charset="0"/>
              <a:buChar char="•"/>
            </a:pPr>
            <a:endParaRPr lang="en-US" altLang="en-US" sz="2000" b="0" i="0">
              <a:solidFill>
                <a:schemeClr val="tx1"/>
              </a:solidFill>
              <a:latin typeface="Times New Roman" panose="02020603050405020304" pitchFamily="18" charset="0"/>
              <a:ea typeface="ui-sans-serif"/>
              <a:cs typeface="Times New Roman" panose="02020603050405020304" pitchFamily="18" charset="0"/>
            </a:endParaRPr>
          </a:p>
          <a:p>
            <a:pPr marL="285750" indent="-285750">
              <a:buFont typeface="Arial" panose="020B0604020202020204" pitchFamily="34" charset="0"/>
              <a:buChar char="•"/>
            </a:pPr>
            <a:r>
              <a:rPr lang="en-US" altLang="en-US" sz="2000" b="0" i="0">
                <a:solidFill>
                  <a:schemeClr val="tx1"/>
                </a:solidFill>
                <a:latin typeface="Times New Roman" panose="02020603050405020304" pitchFamily="18" charset="0"/>
                <a:ea typeface="ui-sans-serif"/>
                <a:cs typeface="Times New Roman" panose="02020603050405020304" pitchFamily="18" charset="0"/>
              </a:rPr>
              <a:t>Features like EnvironmentSatisfaction, WorkLifeBalance, and MonthlyIncome also contribute significantly.</a:t>
            </a:r>
            <a:endParaRPr lang="en-US" altLang="en-US" sz="2000" b="0" i="0">
              <a:solidFill>
                <a:schemeClr val="tx1"/>
              </a:solidFill>
              <a:latin typeface="Times New Roman" panose="02020603050405020304" pitchFamily="18" charset="0"/>
              <a:ea typeface="ui-sans-serif"/>
              <a:cs typeface="Times New Roman" panose="02020603050405020304" pitchFamily="18" charset="0"/>
            </a:endParaRPr>
          </a:p>
          <a:p>
            <a:pPr marL="285750" indent="-285750">
              <a:buFont typeface="Arial" panose="020B0604020202020204" pitchFamily="34" charset="0"/>
              <a:buChar char="•"/>
            </a:pPr>
            <a:endParaRPr lang="en-US" altLang="en-US" sz="2000" b="0" i="0">
              <a:solidFill>
                <a:schemeClr val="tx1"/>
              </a:solidFill>
              <a:latin typeface="Times New Roman" panose="02020603050405020304" pitchFamily="18" charset="0"/>
              <a:ea typeface="ui-sans-serif"/>
              <a:cs typeface="Times New Roman" panose="02020603050405020304" pitchFamily="18" charset="0"/>
            </a:endParaRPr>
          </a:p>
          <a:p>
            <a:pPr marL="285750" indent="-285750">
              <a:buFont typeface="Arial" panose="020B0604020202020204" pitchFamily="34" charset="0"/>
              <a:buChar char="•"/>
            </a:pPr>
            <a:r>
              <a:rPr lang="en-US" altLang="en-US" sz="2000" b="0" i="0">
                <a:solidFill>
                  <a:schemeClr val="tx1"/>
                </a:solidFill>
                <a:latin typeface="Times New Roman" panose="02020603050405020304" pitchFamily="18" charset="0"/>
                <a:ea typeface="ui-sans-serif"/>
                <a:cs typeface="Times New Roman" panose="02020603050405020304" pitchFamily="18" charset="0"/>
              </a:rPr>
              <a:t>SHAP helps in understanding how each feature impacts attrition, improving model transparency.</a:t>
            </a:r>
            <a:endParaRPr lang="en-US" altLang="en-US" sz="2000" b="0" i="0">
              <a:solidFill>
                <a:schemeClr val="tx1"/>
              </a:solidFill>
              <a:latin typeface="Times New Roman" panose="02020603050405020304" pitchFamily="18" charset="0"/>
              <a:ea typeface="ui-sans-serif"/>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600" b="1">
                <a:latin typeface="Times New Roman" panose="02020603050405020304" pitchFamily="18" charset="0"/>
                <a:cs typeface="Times New Roman" panose="02020603050405020304" pitchFamily="18" charset="0"/>
              </a:rPr>
              <a:t>Conclusion</a:t>
            </a:r>
            <a:endParaRPr lang="en-US" sz="36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p>
            <a:r>
              <a:rPr lang="en-US" altLang="en-US" sz="2000">
                <a:latin typeface="Times New Roman" panose="02020603050405020304" pitchFamily="18" charset="0"/>
                <a:cs typeface="Times New Roman" panose="02020603050405020304" pitchFamily="18" charset="0"/>
              </a:rPr>
              <a:t>Developed an efficient hybrid ML model for attrition prediction</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Successfully handled class imbalance using SMOTE</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GA improved feature selection and model efficiency</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Ensemble model improved accuracy and generalization</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SHAP provided transparent and explainable predictions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System supports data-driven HR decision-making</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sz="3600" b="1">
                <a:latin typeface="Times New Roman" panose="02020603050405020304" pitchFamily="18" charset="0"/>
                <a:cs typeface="Times New Roman" panose="02020603050405020304" pitchFamily="18" charset="0"/>
              </a:rPr>
              <a:t>Future Scope</a:t>
            </a:r>
            <a:endParaRPr lang="en-US" altLang="en-US" sz="36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p>
            <a:r>
              <a:rPr lang="en-US" altLang="en-US" sz="2000">
                <a:latin typeface="Times New Roman" panose="02020603050405020304" pitchFamily="18" charset="0"/>
                <a:cs typeface="Times New Roman" panose="02020603050405020304" pitchFamily="18" charset="0"/>
              </a:rPr>
              <a:t>Development of a real-time employee attrition prediction system</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Integration with web-based or enterprise HR platforms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Use of deep learning or advanced hybrid models for improved accuracy</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Application on larger and multi-domain datasets for better generalization</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Enhancement of explainability using advanced XAI techniques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Deployment as a decision-support tool for HR management</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060"/>
            <a:ext cx="10515600" cy="1325563"/>
          </a:xfrm>
        </p:spPr>
        <p:txBody>
          <a:bodyPr/>
          <a:lstStyle/>
          <a:p>
            <a:pPr algn="ctr"/>
            <a:r>
              <a:rPr lang="en-US">
                <a:latin typeface="Times New Roman" panose="02020603050405020304" pitchFamily="18" charset="0"/>
                <a:cs typeface="Times New Roman" panose="02020603050405020304" pitchFamily="18" charset="0"/>
              </a:rPr>
              <a:t>Thank You</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7682</Words>
  <Application>WPS Presentation</Application>
  <PresentationFormat>Widescreen</PresentationFormat>
  <Paragraphs>196</Paragraphs>
  <Slides>16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16</vt:i4>
      </vt:variant>
    </vt:vector>
  </HeadingPairs>
  <TitlesOfParts>
    <vt:vector size="28" baseType="lpstr">
      <vt:lpstr>Arial</vt:lpstr>
      <vt:lpstr>SimSun</vt:lpstr>
      <vt:lpstr>Wingdings</vt:lpstr>
      <vt:lpstr>Times New Roman</vt:lpstr>
      <vt:lpstr>Microsoft YaHei</vt:lpstr>
      <vt:lpstr>Arial Unicode MS</vt:lpstr>
      <vt:lpstr>Calibri Light</vt:lpstr>
      <vt:lpstr>Calibri</vt:lpstr>
      <vt:lpstr>ui-sans-serif</vt:lpstr>
      <vt:lpstr>Arial</vt:lpstr>
      <vt:lpstr>Segoe Print</vt:lpstr>
      <vt:lpstr>Office Theme</vt:lpstr>
      <vt:lpstr>PowerPoint 演示文稿</vt:lpstr>
      <vt:lpstr>PowerPoint 演示文稿</vt:lpstr>
      <vt:lpstr>ABSTRACT</vt:lpstr>
      <vt:lpstr>Problem Statement</vt:lpstr>
      <vt:lpstr>PowerPoint 演示文稿</vt:lpstr>
      <vt:lpstr>PowerPoint 演示文稿</vt:lpstr>
      <vt:lpstr>PowerPoint 演示文稿</vt:lpstr>
      <vt:lpstr>Proposed Work</vt:lpstr>
      <vt:lpstr>Proposed Method Architecture</vt:lpstr>
      <vt:lpstr>PowerPoint 演示文稿</vt:lpstr>
      <vt:lpstr>PowerPoint 演示文稿</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karth</cp:lastModifiedBy>
  <cp:revision>21</cp:revision>
  <dcterms:created xsi:type="dcterms:W3CDTF">2025-07-23T00:59:00Z</dcterms:created>
  <dcterms:modified xsi:type="dcterms:W3CDTF">2026-04-24T18:35:51Z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5F6209368C194E08996986EAAAC60B05_13</vt:lpwstr>
  </property>
  <property fmtid="{D5CDD505-2E9C-101B-9397-08002B2CF9AE}" pid="3" name="KSOProductBuildVer">
    <vt:lpwstr>1033-12.1.0.25862</vt:lpwstr>
  </property>
</Properties>
</file>